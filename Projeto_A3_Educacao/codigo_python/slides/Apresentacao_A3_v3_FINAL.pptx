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B933E4-9F35-6BDC-18EA-9A007B4010D0}" v="110" dt="2026-05-19T21:36:17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AFB933E4-9F35-6BDC-18EA-9A007B4010D0}"/>
    <pc:docChg chg="delSld modSld">
      <pc:chgData name="" userId="" providerId="" clId="Web-{AFB933E4-9F35-6BDC-18EA-9A007B4010D0}" dt="2026-05-19T21:36:17.323" v="109" actId="20577"/>
      <pc:docMkLst>
        <pc:docMk/>
      </pc:docMkLst>
      <pc:sldChg chg="addSp delSp modSp">
        <pc:chgData name="" userId="" providerId="" clId="Web-{AFB933E4-9F35-6BDC-18EA-9A007B4010D0}" dt="2026-05-19T21:36:17.323" v="109" actId="20577"/>
        <pc:sldMkLst>
          <pc:docMk/>
          <pc:sldMk cId="0" sldId="256"/>
        </pc:sldMkLst>
        <pc:spChg chg="add del mod">
          <ac:chgData name="" userId="" providerId="" clId="Web-{AFB933E4-9F35-6BDC-18EA-9A007B4010D0}" dt="2026-05-19T21:36:17.323" v="109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" userId="" providerId="" clId="Web-{AFB933E4-9F35-6BDC-18EA-9A007B4010D0}" dt="2026-05-19T21:26:43.974" v="101" actId="1076"/>
          <ac:spMkLst>
            <pc:docMk/>
            <pc:sldMk cId="0" sldId="256"/>
            <ac:spMk id="11" creationId="{00000000-0000-0000-0000-000000000000}"/>
          </ac:spMkLst>
        </pc:spChg>
      </pc:sldChg>
      <pc:sldChg chg="del">
        <pc:chgData name="" userId="" providerId="" clId="Web-{AFB933E4-9F35-6BDC-18EA-9A007B4010D0}" dt="2026-05-19T21:26:56.740" v="102"/>
        <pc:sldMkLst>
          <pc:docMk/>
          <pc:sldMk cId="0" sldId="257"/>
        </pc:sldMkLst>
      </pc:sldChg>
      <pc:sldChg chg="delSp">
        <pc:chgData name="" userId="" providerId="" clId="Web-{AFB933E4-9F35-6BDC-18EA-9A007B4010D0}" dt="2026-05-19T21:20:47.492" v="29"/>
        <pc:sldMkLst>
          <pc:docMk/>
          <pc:sldMk cId="0" sldId="258"/>
        </pc:sldMkLst>
        <pc:spChg chg="del">
          <ac:chgData name="" userId="" providerId="" clId="Web-{AFB933E4-9F35-6BDC-18EA-9A007B4010D0}" dt="2026-05-19T21:20:47.492" v="29"/>
          <ac:spMkLst>
            <pc:docMk/>
            <pc:sldMk cId="0" sldId="258"/>
            <ac:spMk id="4" creationId="{00000000-0000-0000-0000-000000000000}"/>
          </ac:spMkLst>
        </pc:spChg>
      </pc:sldChg>
      <pc:sldChg chg="modSp">
        <pc:chgData name="" userId="" providerId="" clId="Web-{AFB933E4-9F35-6BDC-18EA-9A007B4010D0}" dt="2026-05-19T21:20:43.070" v="28" actId="20577"/>
        <pc:sldMkLst>
          <pc:docMk/>
          <pc:sldMk cId="0" sldId="259"/>
        </pc:sldMkLst>
        <pc:spChg chg="mod">
          <ac:chgData name="" userId="" providerId="" clId="Web-{AFB933E4-9F35-6BDC-18EA-9A007B4010D0}" dt="2026-05-19T21:20:43.070" v="28" actId="20577"/>
          <ac:spMkLst>
            <pc:docMk/>
            <pc:sldMk cId="0" sldId="259"/>
            <ac:spMk id="4" creationId="{00000000-0000-0000-0000-000000000000}"/>
          </ac:spMkLst>
        </pc:spChg>
      </pc:sldChg>
      <pc:sldChg chg="delSp">
        <pc:chgData name="" userId="" providerId="" clId="Web-{AFB933E4-9F35-6BDC-18EA-9A007B4010D0}" dt="2026-05-19T21:20:40.476" v="25"/>
        <pc:sldMkLst>
          <pc:docMk/>
          <pc:sldMk cId="0" sldId="260"/>
        </pc:sldMkLst>
        <pc:spChg chg="del">
          <ac:chgData name="" userId="" providerId="" clId="Web-{AFB933E4-9F35-6BDC-18EA-9A007B4010D0}" dt="2026-05-19T21:20:40.476" v="25"/>
          <ac:spMkLst>
            <pc:docMk/>
            <pc:sldMk cId="0" sldId="260"/>
            <ac:spMk id="4" creationId="{00000000-0000-0000-0000-000000000000}"/>
          </ac:spMkLst>
        </pc:spChg>
      </pc:sldChg>
      <pc:sldChg chg="modSp">
        <pc:chgData name="" userId="" providerId="" clId="Web-{AFB933E4-9F35-6BDC-18EA-9A007B4010D0}" dt="2026-05-19T21:20:24.616" v="24" actId="1076"/>
        <pc:sldMkLst>
          <pc:docMk/>
          <pc:sldMk cId="0" sldId="263"/>
        </pc:sldMkLst>
        <pc:spChg chg="mod">
          <ac:chgData name="" userId="" providerId="" clId="Web-{AFB933E4-9F35-6BDC-18EA-9A007B4010D0}" dt="2026-05-19T21:20:17.569" v="23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" userId="" providerId="" clId="Web-{AFB933E4-9F35-6BDC-18EA-9A007B4010D0}" dt="2026-05-19T21:20:24.616" v="24" actId="1076"/>
          <ac:spMkLst>
            <pc:docMk/>
            <pc:sldMk cId="0" sldId="263"/>
            <ac:spMk id="18" creationId="{00000000-0000-0000-0000-000000000000}"/>
          </ac:spMkLst>
        </pc:spChg>
      </pc:sldChg>
      <pc:sldChg chg="modSp">
        <pc:chgData name="" userId="" providerId="" clId="Web-{AFB933E4-9F35-6BDC-18EA-9A007B4010D0}" dt="2026-05-19T21:20:03.240" v="21" actId="20577"/>
        <pc:sldMkLst>
          <pc:docMk/>
          <pc:sldMk cId="0" sldId="264"/>
        </pc:sldMkLst>
        <pc:spChg chg="mod">
          <ac:chgData name="" userId="" providerId="" clId="Web-{AFB933E4-9F35-6BDC-18EA-9A007B4010D0}" dt="2026-05-19T21:20:03.240" v="21" actId="20577"/>
          <ac:spMkLst>
            <pc:docMk/>
            <pc:sldMk cId="0" sldId="264"/>
            <ac:spMk id="4" creationId="{00000000-0000-0000-0000-000000000000}"/>
          </ac:spMkLst>
        </pc:spChg>
      </pc:sldChg>
      <pc:sldChg chg="delSp modSp">
        <pc:chgData name="" userId="" providerId="" clId="Web-{AFB933E4-9F35-6BDC-18EA-9A007B4010D0}" dt="2026-05-19T21:19:47.256" v="15" actId="1076"/>
        <pc:sldMkLst>
          <pc:docMk/>
          <pc:sldMk cId="0" sldId="265"/>
        </pc:sldMkLst>
        <pc:spChg chg="del">
          <ac:chgData name="" userId="" providerId="" clId="Web-{AFB933E4-9F35-6BDC-18EA-9A007B4010D0}" dt="2026-05-19T21:19:43.240" v="14"/>
          <ac:spMkLst>
            <pc:docMk/>
            <pc:sldMk cId="0" sldId="265"/>
            <ac:spMk id="4" creationId="{00000000-0000-0000-0000-000000000000}"/>
          </ac:spMkLst>
        </pc:spChg>
        <pc:spChg chg="mod">
          <ac:chgData name="" userId="" providerId="" clId="Web-{AFB933E4-9F35-6BDC-18EA-9A007B4010D0}" dt="2026-05-19T21:19:47.256" v="15" actId="1076"/>
          <ac:spMkLst>
            <pc:docMk/>
            <pc:sldMk cId="0" sldId="265"/>
            <ac:spMk id="18" creationId="{00000000-0000-0000-0000-000000000000}"/>
          </ac:spMkLst>
        </pc:spChg>
      </pc:sldChg>
      <pc:sldChg chg="del">
        <pc:chgData name="" userId="" providerId="" clId="Web-{AFB933E4-9F35-6BDC-18EA-9A007B4010D0}" dt="2026-05-19T21:14:14.056" v="0"/>
        <pc:sldMkLst>
          <pc:docMk/>
          <pc:sldMk cId="0" sldId="266"/>
        </pc:sldMkLst>
      </pc:sldChg>
      <pc:sldChg chg="addSp delSp modSp">
        <pc:chgData name="" userId="" providerId="" clId="Web-{AFB933E4-9F35-6BDC-18EA-9A007B4010D0}" dt="2026-05-19T21:18:56.379" v="11" actId="1076"/>
        <pc:sldMkLst>
          <pc:docMk/>
          <pc:sldMk cId="0" sldId="267"/>
        </pc:sldMkLst>
        <pc:spChg chg="del">
          <ac:chgData name="" userId="" providerId="" clId="Web-{AFB933E4-9F35-6BDC-18EA-9A007B4010D0}" dt="2026-05-19T21:17:58.720" v="4"/>
          <ac:spMkLst>
            <pc:docMk/>
            <pc:sldMk cId="0" sldId="267"/>
            <ac:spMk id="4" creationId="{00000000-0000-0000-0000-000000000000}"/>
          </ac:spMkLst>
        </pc:spChg>
        <pc:spChg chg="mod">
          <ac:chgData name="" userId="" providerId="" clId="Web-{AFB933E4-9F35-6BDC-18EA-9A007B4010D0}" dt="2026-05-19T21:18:01.736" v="5" actId="1076"/>
          <ac:spMkLst>
            <pc:docMk/>
            <pc:sldMk cId="0" sldId="267"/>
            <ac:spMk id="33" creationId="{00000000-0000-0000-0000-000000000000}"/>
          </ac:spMkLst>
        </pc:spChg>
        <pc:spChg chg="mod">
          <ac:chgData name="" userId="" providerId="" clId="Web-{AFB933E4-9F35-6BDC-18EA-9A007B4010D0}" dt="2026-05-19T21:18:56.379" v="11" actId="1076"/>
          <ac:spMkLst>
            <pc:docMk/>
            <pc:sldMk cId="0" sldId="267"/>
            <ac:spMk id="34" creationId="{00000000-0000-0000-0000-000000000000}"/>
          </ac:spMkLst>
        </pc:spChg>
        <pc:spChg chg="add del">
          <ac:chgData name="" userId="" providerId="" clId="Web-{AFB933E4-9F35-6BDC-18EA-9A007B4010D0}" dt="2026-05-19T21:17:53.955" v="3"/>
          <ac:spMkLst>
            <pc:docMk/>
            <pc:sldMk cId="0" sldId="267"/>
            <ac:spMk id="35" creationId="{00000000-0000-0000-0000-000000000000}"/>
          </ac:spMkLst>
        </pc:spChg>
      </pc:sldChg>
      <pc:sldChg chg="modSp">
        <pc:chgData name="" userId="" providerId="" clId="Web-{AFB933E4-9F35-6BDC-18EA-9A007B4010D0}" dt="2026-05-19T21:18:48.800" v="10" actId="1076"/>
        <pc:sldMkLst>
          <pc:docMk/>
          <pc:sldMk cId="0" sldId="268"/>
        </pc:sldMkLst>
        <pc:spChg chg="mod">
          <ac:chgData name="" userId="" providerId="" clId="Web-{AFB933E4-9F35-6BDC-18EA-9A007B4010D0}" dt="2026-05-19T21:18:43.222" v="9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" userId="" providerId="" clId="Web-{AFB933E4-9F35-6BDC-18EA-9A007B4010D0}" dt="2026-05-19T21:18:48.800" v="10" actId="1076"/>
          <ac:spMkLst>
            <pc:docMk/>
            <pc:sldMk cId="0" sldId="268"/>
            <ac:spMk id="15" creationId="{00000000-0000-0000-0000-000000000000}"/>
          </ac:spMkLst>
        </pc:spChg>
      </pc:sldChg>
      <pc:sldChg chg="delSp">
        <pc:chgData name="" userId="" providerId="" clId="Web-{AFB933E4-9F35-6BDC-18EA-9A007B4010D0}" dt="2026-05-19T21:19:31.177" v="12"/>
        <pc:sldMkLst>
          <pc:docMk/>
          <pc:sldMk cId="0" sldId="270"/>
        </pc:sldMkLst>
        <pc:spChg chg="del">
          <ac:chgData name="" userId="" providerId="" clId="Web-{AFB933E4-9F35-6BDC-18EA-9A007B4010D0}" dt="2026-05-19T21:19:31.177" v="12"/>
          <ac:spMkLst>
            <pc:docMk/>
            <pc:sldMk cId="0" sldId="270"/>
            <ac:spMk id="16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4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4_0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7_0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8_0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9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Aluno/Professor</c:v>
                </c:pt>
              </c:strCache>
            </c:strRef>
          </c:tx>
          <c:spPr>
            <a:solidFill>
              <a:srgbClr val="E8F1F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36-49FD-87BF-3F321A06B0C6}"/>
              </c:ext>
            </c:extLst>
          </c:dPt>
          <c:dPt>
            <c:idx val="1"/>
            <c:invertIfNegative val="0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36-49FD-87BF-3F321A06B0C6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36-49FD-87BF-3F321A06B0C6}"/>
              </c:ext>
            </c:extLst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736-49FD-87BF-3F321A06B0C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
(25%)</c:v>
                </c:pt>
                <c:pt idx="1">
                  <c:v>Mediana</c:v>
                </c:pt>
                <c:pt idx="2">
                  <c:v>Média</c:v>
                </c:pt>
                <c:pt idx="3">
                  <c:v>Q3
(75%)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9.6</c:v>
                </c:pt>
                <c:pt idx="1">
                  <c:v>13.6</c:v>
                </c:pt>
                <c:pt idx="2">
                  <c:v>14.95</c:v>
                </c:pt>
                <c:pt idx="3">
                  <c:v>18.5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736-49FD-87BF-3F321A06B0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Escolas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049-43CA-AD44-DA2CFEB7266A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049-43CA-AD44-DA2CFEB7266A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049-43CA-AD44-DA2CFEB7266A}"/>
              </c:ext>
            </c:extLst>
          </c:dPt>
          <c:dPt>
            <c:idx val="3"/>
            <c:invertIfNegative val="0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049-43CA-AD44-DA2CFEB7266A}"/>
              </c:ext>
            </c:extLst>
          </c:dPt>
          <c:dPt>
            <c:idx val="4"/>
            <c:invertIfNegative val="0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049-43CA-AD44-DA2CFEB7266A}"/>
              </c:ext>
            </c:extLst>
          </c:dPt>
          <c:dPt>
            <c:idx val="5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049-43CA-AD44-DA2CFEB7266A}"/>
              </c:ext>
            </c:extLst>
          </c:dPt>
          <c:cat>
            <c:strRef>
              <c:f>Sheet1!$A$2:$A$7</c:f>
              <c:strCache>
                <c:ptCount val="6"/>
                <c:pt idx="0">
                  <c:v>Score 0</c:v>
                </c:pt>
                <c:pt idx="1">
                  <c:v>Score 1</c:v>
                </c:pt>
                <c:pt idx="2">
                  <c:v>Score 2</c:v>
                </c:pt>
                <c:pt idx="3">
                  <c:v>Score 3</c:v>
                </c:pt>
                <c:pt idx="4">
                  <c:v>Score 4</c:v>
                </c:pt>
                <c:pt idx="5">
                  <c:v>Score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34915</c:v>
                </c:pt>
                <c:pt idx="1">
                  <c:v>3343</c:v>
                </c:pt>
                <c:pt idx="2">
                  <c:v>9076</c:v>
                </c:pt>
                <c:pt idx="3">
                  <c:v>84318</c:v>
                </c:pt>
                <c:pt idx="4">
                  <c:v>48494</c:v>
                </c:pt>
                <c:pt idx="5">
                  <c:v>33972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049-43CA-AD44-DA2CFEB726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Internet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9C5-4159-A5C0-4A7BA07BA84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9C5-4159-A5C0-4A7BA07BA84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9C5-4159-A5C0-4A7BA07BA84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9C5-4159-A5C0-4A7BA07BA84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9C5-4159-A5C0-4A7BA07BA840}"/>
              </c:ext>
            </c:extLst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9C5-4159-A5C0-4A7BA07BA840}"/>
              </c:ext>
            </c:extLst>
          </c:dPt>
          <c:dPt>
            <c:idx val="6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9C5-4159-A5C0-4A7BA07BA840}"/>
              </c:ext>
            </c:extLst>
          </c:dPt>
          <c:dPt>
            <c:idx val="7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9C5-4159-A5C0-4A7BA07BA840}"/>
              </c:ext>
            </c:extLst>
          </c:dPt>
          <c:dPt>
            <c:idx val="8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9C5-4159-A5C0-4A7BA07BA840}"/>
              </c:ext>
            </c:extLst>
          </c:dPt>
          <c:dPt>
            <c:idx val="9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9C5-4159-A5C0-4A7BA07BA840}"/>
              </c:ext>
            </c:extLst>
          </c:dPt>
          <c:dPt>
            <c:idx val="10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29C5-4159-A5C0-4A7BA07BA840}"/>
              </c:ext>
            </c:extLst>
          </c:dPt>
          <c:dPt>
            <c:idx val="1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29C5-4159-A5C0-4A7BA07BA840}"/>
              </c:ext>
            </c:extLst>
          </c:dPt>
          <c:dPt>
            <c:idx val="1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29C5-4159-A5C0-4A7BA07BA840}"/>
              </c:ext>
            </c:extLst>
          </c:dPt>
          <c:dPt>
            <c:idx val="1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29C5-4159-A5C0-4A7BA07BA840}"/>
              </c:ext>
            </c:extLst>
          </c:dPt>
          <c:dPt>
            <c:idx val="14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29C5-4159-A5C0-4A7BA07BA840}"/>
              </c:ext>
            </c:extLst>
          </c:dPt>
          <c:dPt>
            <c:idx val="15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29C5-4159-A5C0-4A7BA07BA840}"/>
              </c:ext>
            </c:extLst>
          </c:dPt>
          <c:dPt>
            <c:idx val="16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29C5-4159-A5C0-4A7BA07BA840}"/>
              </c:ext>
            </c:extLst>
          </c:dPt>
          <c:dPt>
            <c:idx val="17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29C5-4159-A5C0-4A7BA07BA840}"/>
              </c:ext>
            </c:extLst>
          </c:dPt>
          <c:dPt>
            <c:idx val="18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29C5-4159-A5C0-4A7BA07BA840}"/>
              </c:ext>
            </c:extLst>
          </c:dPt>
          <c:dPt>
            <c:idx val="19"/>
            <c:invertIfNegative val="0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29C5-4159-A5C0-4A7BA07BA840}"/>
              </c:ext>
            </c:extLst>
          </c:dPt>
          <c:dPt>
            <c:idx val="20"/>
            <c:invertIfNegative val="0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29C5-4159-A5C0-4A7BA07BA840}"/>
              </c:ext>
            </c:extLst>
          </c:dPt>
          <c:dPt>
            <c:idx val="21"/>
            <c:invertIfNegative val="0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B-29C5-4159-A5C0-4A7BA07BA840}"/>
              </c:ext>
            </c:extLst>
          </c:dPt>
          <c:dPt>
            <c:idx val="22"/>
            <c:invertIfNegative val="0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D-29C5-4159-A5C0-4A7BA07BA840}"/>
              </c:ext>
            </c:extLst>
          </c:dPt>
          <c:dPt>
            <c:idx val="23"/>
            <c:invertIfNegative val="0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F-29C5-4159-A5C0-4A7BA07BA840}"/>
              </c:ext>
            </c:extLst>
          </c:dPt>
          <c:dPt>
            <c:idx val="24"/>
            <c:invertIfNegative val="0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1-29C5-4159-A5C0-4A7BA07BA840}"/>
              </c:ext>
            </c:extLst>
          </c:dPt>
          <c:dPt>
            <c:idx val="25"/>
            <c:invertIfNegative val="0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3-29C5-4159-A5C0-4A7BA07BA840}"/>
              </c:ext>
            </c:extLst>
          </c:dPt>
          <c:dPt>
            <c:idx val="26"/>
            <c:invertIfNegative val="0"/>
            <c:bubble3D val="0"/>
            <c:spPr>
              <a:solidFill>
                <a:srgbClr val="1A5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5-29C5-4159-A5C0-4A7BA07BA84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Sheet1!$A$2:$A$28</c:f>
              <c:strCache>
                <c:ptCount val="27"/>
                <c:pt idx="0">
                  <c:v>AC</c:v>
                </c:pt>
                <c:pt idx="1">
                  <c:v>AM</c:v>
                </c:pt>
                <c:pt idx="2">
                  <c:v>MG</c:v>
                </c:pt>
                <c:pt idx="3">
                  <c:v>RR</c:v>
                </c:pt>
                <c:pt idx="4">
                  <c:v>AP</c:v>
                </c:pt>
                <c:pt idx="5">
                  <c:v>TO</c:v>
                </c:pt>
                <c:pt idx="6">
                  <c:v>PA</c:v>
                </c:pt>
                <c:pt idx="7">
                  <c:v>RN</c:v>
                </c:pt>
                <c:pt idx="8">
                  <c:v>MA</c:v>
                </c:pt>
                <c:pt idx="9">
                  <c:v>PI</c:v>
                </c:pt>
                <c:pt idx="10">
                  <c:v>CE</c:v>
                </c:pt>
                <c:pt idx="11">
                  <c:v>ES</c:v>
                </c:pt>
                <c:pt idx="12">
                  <c:v>PE</c:v>
                </c:pt>
                <c:pt idx="13">
                  <c:v>PB</c:v>
                </c:pt>
                <c:pt idx="14">
                  <c:v>BA</c:v>
                </c:pt>
                <c:pt idx="15">
                  <c:v>SE</c:v>
                </c:pt>
                <c:pt idx="16">
                  <c:v>MT</c:v>
                </c:pt>
                <c:pt idx="17">
                  <c:v>AL</c:v>
                </c:pt>
                <c:pt idx="18">
                  <c:v>RO</c:v>
                </c:pt>
                <c:pt idx="19">
                  <c:v>RJ</c:v>
                </c:pt>
                <c:pt idx="20">
                  <c:v>RS</c:v>
                </c:pt>
                <c:pt idx="21">
                  <c:v>SC</c:v>
                </c:pt>
                <c:pt idx="22">
                  <c:v>DF</c:v>
                </c:pt>
                <c:pt idx="23">
                  <c:v>SP</c:v>
                </c:pt>
                <c:pt idx="24">
                  <c:v>MS</c:v>
                </c:pt>
                <c:pt idx="25">
                  <c:v>GO</c:v>
                </c:pt>
                <c:pt idx="26">
                  <c:v>PR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47.8</c:v>
                </c:pt>
                <c:pt idx="1">
                  <c:v>60.8</c:v>
                </c:pt>
                <c:pt idx="2">
                  <c:v>64.400000000000006</c:v>
                </c:pt>
                <c:pt idx="3">
                  <c:v>64.599999999999994</c:v>
                </c:pt>
                <c:pt idx="4">
                  <c:v>64.599999999999994</c:v>
                </c:pt>
                <c:pt idx="5">
                  <c:v>70</c:v>
                </c:pt>
                <c:pt idx="6">
                  <c:v>70.099999999999994</c:v>
                </c:pt>
                <c:pt idx="7">
                  <c:v>71.099999999999994</c:v>
                </c:pt>
                <c:pt idx="8">
                  <c:v>73</c:v>
                </c:pt>
                <c:pt idx="9">
                  <c:v>73.2</c:v>
                </c:pt>
                <c:pt idx="10">
                  <c:v>75.7</c:v>
                </c:pt>
                <c:pt idx="11">
                  <c:v>77.3</c:v>
                </c:pt>
                <c:pt idx="12">
                  <c:v>77.599999999999994</c:v>
                </c:pt>
                <c:pt idx="13">
                  <c:v>77.8</c:v>
                </c:pt>
                <c:pt idx="14">
                  <c:v>78.2</c:v>
                </c:pt>
                <c:pt idx="15">
                  <c:v>81.7</c:v>
                </c:pt>
                <c:pt idx="16">
                  <c:v>82.4</c:v>
                </c:pt>
                <c:pt idx="17">
                  <c:v>84.4</c:v>
                </c:pt>
                <c:pt idx="18">
                  <c:v>84.7</c:v>
                </c:pt>
                <c:pt idx="19">
                  <c:v>88.6</c:v>
                </c:pt>
                <c:pt idx="20">
                  <c:v>89.3</c:v>
                </c:pt>
                <c:pt idx="21">
                  <c:v>90.2</c:v>
                </c:pt>
                <c:pt idx="22">
                  <c:v>90.6</c:v>
                </c:pt>
                <c:pt idx="23">
                  <c:v>90.6</c:v>
                </c:pt>
                <c:pt idx="24">
                  <c:v>94.3</c:v>
                </c:pt>
                <c:pt idx="25">
                  <c:v>94.5</c:v>
                </c:pt>
                <c:pt idx="26">
                  <c:v>95.6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6-29C5-4159-A5C0-4A7BA07BA8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Federal</c:v>
                </c:pt>
              </c:strCache>
            </c:strRef>
          </c:tx>
          <c:spPr>
            <a:solidFill>
              <a:srgbClr val="1A56A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Internet</c:v>
                </c:pt>
                <c:pt idx="1">
                  <c:v>Biblioteca</c:v>
                </c:pt>
                <c:pt idx="2">
                  <c:v>Lab. Info.</c:v>
                </c:pt>
                <c:pt idx="3">
                  <c:v>Energia</c:v>
                </c:pt>
                <c:pt idx="4">
                  <c:v>Água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98.4</c:v>
                </c:pt>
                <c:pt idx="1">
                  <c:v>94.9</c:v>
                </c:pt>
                <c:pt idx="2">
                  <c:v>94.6</c:v>
                </c:pt>
                <c:pt idx="3">
                  <c:v>98.4</c:v>
                </c:pt>
                <c:pt idx="4">
                  <c:v>98.2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4B-4714-9592-2AEED22AD9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Estadual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Internet</c:v>
                </c:pt>
                <c:pt idx="1">
                  <c:v>Biblioteca</c:v>
                </c:pt>
                <c:pt idx="2">
                  <c:v>Lab. Info.</c:v>
                </c:pt>
                <c:pt idx="3">
                  <c:v>Energia</c:v>
                </c:pt>
                <c:pt idx="4">
                  <c:v>Água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85.2</c:v>
                </c:pt>
                <c:pt idx="1">
                  <c:v>53.8</c:v>
                </c:pt>
                <c:pt idx="2">
                  <c:v>57.3</c:v>
                </c:pt>
                <c:pt idx="3">
                  <c:v>87.6</c:v>
                </c:pt>
                <c:pt idx="4">
                  <c:v>86.8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4B-4714-9592-2AEED22AD9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Privada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Internet</c:v>
                </c:pt>
                <c:pt idx="1">
                  <c:v>Biblioteca</c:v>
                </c:pt>
                <c:pt idx="2">
                  <c:v>Lab. Info.</c:v>
                </c:pt>
                <c:pt idx="3">
                  <c:v>Energia</c:v>
                </c:pt>
                <c:pt idx="4">
                  <c:v>Água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81.400000000000006</c:v>
                </c:pt>
                <c:pt idx="1">
                  <c:v>42.9</c:v>
                </c:pt>
                <c:pt idx="2">
                  <c:v>25.4</c:v>
                </c:pt>
                <c:pt idx="3">
                  <c:v>80.599999999999994</c:v>
                </c:pt>
                <c:pt idx="4">
                  <c:v>81.3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4B-4714-9592-2AEED22AD9F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Municipal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Internet</c:v>
                </c:pt>
                <c:pt idx="1">
                  <c:v>Biblioteca</c:v>
                </c:pt>
                <c:pt idx="2">
                  <c:v>Lab. Info.</c:v>
                </c:pt>
                <c:pt idx="3">
                  <c:v>Energia</c:v>
                </c:pt>
                <c:pt idx="4">
                  <c:v>Água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77.5</c:v>
                </c:pt>
                <c:pt idx="1">
                  <c:v>19.899999999999999</c:v>
                </c:pt>
                <c:pt idx="2">
                  <c:v>14.9</c:v>
                </c:pt>
                <c:pt idx="3">
                  <c:v>80.400000000000006</c:v>
                </c:pt>
                <c:pt idx="4">
                  <c:v>79.900000000000006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E4B-4714-9592-2AEED22AD9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Alunos/Prof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5B4-45DF-B97B-7D9AA471C67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5B4-45DF-B97B-7D9AA471C67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5B4-45DF-B97B-7D9AA471C67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5B4-45DF-B97B-7D9AA471C67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5B4-45DF-B97B-7D9AA471C67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5B4-45DF-B97B-7D9AA471C67A}"/>
              </c:ext>
            </c:extLst>
          </c:dPt>
          <c:dPt>
            <c:idx val="6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5B4-45DF-B97B-7D9AA471C67A}"/>
              </c:ext>
            </c:extLst>
          </c:dPt>
          <c:dPt>
            <c:idx val="7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5B4-45DF-B97B-7D9AA471C67A}"/>
              </c:ext>
            </c:extLst>
          </c:dPt>
          <c:dPt>
            <c:idx val="8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5B4-45DF-B97B-7D9AA471C67A}"/>
              </c:ext>
            </c:extLst>
          </c:dPt>
          <c:dPt>
            <c:idx val="9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65B4-45DF-B97B-7D9AA471C67A}"/>
              </c:ext>
            </c:extLst>
          </c:dPt>
          <c:dPt>
            <c:idx val="10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65B4-45DF-B97B-7D9AA471C67A}"/>
              </c:ext>
            </c:extLst>
          </c:dPt>
          <c:dPt>
            <c:idx val="1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65B4-45DF-B97B-7D9AA471C67A}"/>
              </c:ext>
            </c:extLst>
          </c:dPt>
          <c:dPt>
            <c:idx val="12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65B4-45DF-B97B-7D9AA471C67A}"/>
              </c:ext>
            </c:extLst>
          </c:dPt>
          <c:dPt>
            <c:idx val="1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65B4-45DF-B97B-7D9AA471C67A}"/>
              </c:ext>
            </c:extLst>
          </c:dPt>
          <c:dPt>
            <c:idx val="14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65B4-45DF-B97B-7D9AA471C67A}"/>
              </c:ext>
            </c:extLst>
          </c:dPt>
          <c:dPt>
            <c:idx val="15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65B4-45DF-B97B-7D9AA471C67A}"/>
              </c:ext>
            </c:extLst>
          </c:dPt>
          <c:dPt>
            <c:idx val="16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65B4-45DF-B97B-7D9AA471C67A}"/>
              </c:ext>
            </c:extLst>
          </c:dPt>
          <c:dPt>
            <c:idx val="17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65B4-45DF-B97B-7D9AA471C67A}"/>
              </c:ext>
            </c:extLst>
          </c:dPt>
          <c:dPt>
            <c:idx val="18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65B4-45DF-B97B-7D9AA471C67A}"/>
              </c:ext>
            </c:extLst>
          </c:dPt>
          <c:dPt>
            <c:idx val="19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65B4-45DF-B97B-7D9AA471C67A}"/>
              </c:ext>
            </c:extLst>
          </c:dPt>
          <c:dPt>
            <c:idx val="20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65B4-45DF-B97B-7D9AA471C67A}"/>
              </c:ext>
            </c:extLst>
          </c:dPt>
          <c:dPt>
            <c:idx val="21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B-65B4-45DF-B97B-7D9AA471C67A}"/>
              </c:ext>
            </c:extLst>
          </c:dPt>
          <c:dPt>
            <c:idx val="22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D-65B4-45DF-B97B-7D9AA471C67A}"/>
              </c:ext>
            </c:extLst>
          </c:dPt>
          <c:dPt>
            <c:idx val="23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F-65B4-45DF-B97B-7D9AA471C67A}"/>
              </c:ext>
            </c:extLst>
          </c:dPt>
          <c:dPt>
            <c:idx val="24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1-65B4-45DF-B97B-7D9AA471C67A}"/>
              </c:ext>
            </c:extLst>
          </c:dPt>
          <c:dPt>
            <c:idx val="25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3-65B4-45DF-B97B-7D9AA471C67A}"/>
              </c:ext>
            </c:extLst>
          </c:dPt>
          <c:dPt>
            <c:idx val="26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35-65B4-45DF-B97B-7D9AA471C67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Sheet1!$A$2:$A$28</c:f>
              <c:strCache>
                <c:ptCount val="27"/>
                <c:pt idx="0">
                  <c:v>RO</c:v>
                </c:pt>
                <c:pt idx="1">
                  <c:v>GO</c:v>
                </c:pt>
                <c:pt idx="2">
                  <c:v>MT</c:v>
                </c:pt>
                <c:pt idx="3">
                  <c:v>DF</c:v>
                </c:pt>
                <c:pt idx="4">
                  <c:v>PE</c:v>
                </c:pt>
                <c:pt idx="5">
                  <c:v>PA</c:v>
                </c:pt>
                <c:pt idx="6">
                  <c:v>AL</c:v>
                </c:pt>
                <c:pt idx="7">
                  <c:v>BA</c:v>
                </c:pt>
                <c:pt idx="8">
                  <c:v>SE</c:v>
                </c:pt>
                <c:pt idx="9">
                  <c:v>AC</c:v>
                </c:pt>
                <c:pt idx="10">
                  <c:v>RN</c:v>
                </c:pt>
                <c:pt idx="11">
                  <c:v>PB</c:v>
                </c:pt>
                <c:pt idx="12">
                  <c:v>RR</c:v>
                </c:pt>
                <c:pt idx="13">
                  <c:v>TO</c:v>
                </c:pt>
                <c:pt idx="14">
                  <c:v>SP</c:v>
                </c:pt>
                <c:pt idx="15">
                  <c:v>AM</c:v>
                </c:pt>
                <c:pt idx="16">
                  <c:v>CE</c:v>
                </c:pt>
                <c:pt idx="17">
                  <c:v>RJ</c:v>
                </c:pt>
                <c:pt idx="18">
                  <c:v>AP</c:v>
                </c:pt>
                <c:pt idx="19">
                  <c:v>SC</c:v>
                </c:pt>
                <c:pt idx="20">
                  <c:v>MS</c:v>
                </c:pt>
                <c:pt idx="21">
                  <c:v>PI</c:v>
                </c:pt>
                <c:pt idx="22">
                  <c:v>MA</c:v>
                </c:pt>
                <c:pt idx="23">
                  <c:v>MG</c:v>
                </c:pt>
                <c:pt idx="24">
                  <c:v>RS</c:v>
                </c:pt>
                <c:pt idx="25">
                  <c:v>ES</c:v>
                </c:pt>
                <c:pt idx="26">
                  <c:v>PR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18.8</c:v>
                </c:pt>
                <c:pt idx="1">
                  <c:v>18.7</c:v>
                </c:pt>
                <c:pt idx="2">
                  <c:v>18.7</c:v>
                </c:pt>
                <c:pt idx="3">
                  <c:v>18.600000000000001</c:v>
                </c:pt>
                <c:pt idx="4">
                  <c:v>17.600000000000001</c:v>
                </c:pt>
                <c:pt idx="5">
                  <c:v>17.5</c:v>
                </c:pt>
                <c:pt idx="6">
                  <c:v>16.899999999999999</c:v>
                </c:pt>
                <c:pt idx="7">
                  <c:v>16.399999999999999</c:v>
                </c:pt>
                <c:pt idx="8">
                  <c:v>16</c:v>
                </c:pt>
                <c:pt idx="9">
                  <c:v>15.9</c:v>
                </c:pt>
                <c:pt idx="10">
                  <c:v>15.8</c:v>
                </c:pt>
                <c:pt idx="11">
                  <c:v>15.6</c:v>
                </c:pt>
                <c:pt idx="12">
                  <c:v>15.5</c:v>
                </c:pt>
                <c:pt idx="13">
                  <c:v>15.4</c:v>
                </c:pt>
                <c:pt idx="14">
                  <c:v>15.4</c:v>
                </c:pt>
                <c:pt idx="15">
                  <c:v>15.3</c:v>
                </c:pt>
                <c:pt idx="16">
                  <c:v>15.2</c:v>
                </c:pt>
                <c:pt idx="17">
                  <c:v>15</c:v>
                </c:pt>
                <c:pt idx="18">
                  <c:v>14.2</c:v>
                </c:pt>
                <c:pt idx="19">
                  <c:v>13.5</c:v>
                </c:pt>
                <c:pt idx="20">
                  <c:v>13.1</c:v>
                </c:pt>
                <c:pt idx="21">
                  <c:v>13</c:v>
                </c:pt>
                <c:pt idx="22">
                  <c:v>12.9</c:v>
                </c:pt>
                <c:pt idx="23">
                  <c:v>12.9</c:v>
                </c:pt>
                <c:pt idx="24">
                  <c:v>12.5</c:v>
                </c:pt>
                <c:pt idx="25">
                  <c:v>12.2</c:v>
                </c:pt>
                <c:pt idx="26">
                  <c:v>11.6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6-65B4-45DF-B97B-7D9AA471C6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Urbana</c:v>
                </c:pt>
              </c:strCache>
            </c:strRef>
          </c:tx>
          <c:spPr>
            <a:solidFill>
              <a:srgbClr val="1A56A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14444</c:v>
                </c:pt>
                <c:pt idx="1">
                  <c:v>35</c:v>
                </c:pt>
                <c:pt idx="2">
                  <c:v>1661</c:v>
                </c:pt>
                <c:pt idx="3">
                  <c:v>56283</c:v>
                </c:pt>
                <c:pt idx="4">
                  <c:v>41091</c:v>
                </c:pt>
                <c:pt idx="5">
                  <c:v>30703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D2-4951-A8D5-29B072FEAA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Rural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20471</c:v>
                </c:pt>
                <c:pt idx="1">
                  <c:v>3308</c:v>
                </c:pt>
                <c:pt idx="2">
                  <c:v>7415</c:v>
                </c:pt>
                <c:pt idx="3">
                  <c:v>28035</c:v>
                </c:pt>
                <c:pt idx="4">
                  <c:v>7435</c:v>
                </c:pt>
                <c:pt idx="5">
                  <c:v>3311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4D2-4951-A8D5-29B072FEAA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5A97FD-1A61-4FC9-B83C-F6162729A99F}" type="datetimeFigureOut">
              <a:t>5/19/2026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1BDB4-26F5-4A82-8C30-E7BF53166D42}" type="slidenum"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238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71E38"/>
          </a:solidFill>
          <a:ln w="12700">
            <a:solidFill>
              <a:srgbClr val="071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>
                <a:solidFill>
                  <a:srgbClr val="000000"/>
                </a:solidFill>
              </a:rPr>
              <a:t>📊</a:t>
            </a:r>
            <a:endParaRPr lang="en-US" sz="7200"/>
          </a:p>
        </p:txBody>
      </p:sp>
      <p:sp>
        <p:nvSpPr>
          <p:cNvPr id="5" name="Text 3"/>
          <p:cNvSpPr/>
          <p:nvPr/>
        </p:nvSpPr>
        <p:spPr>
          <a:xfrm>
            <a:off x="182880" y="2331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endParaRPr lang="en-US" sz="1300"/>
          </a:p>
          <a:p>
            <a:pPr marL="0" indent="0" algn="ctr">
              <a:buNone/>
            </a:pPr>
            <a:r>
              <a:rPr lang="en-US" sz="1300" b="1" kern="0" spc="30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DADOS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8288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2025 – INEP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6B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214.192 escolas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3337560" y="502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A3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3337560" y="886968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Escolar Brasileira</a:t>
            </a:r>
            <a:endParaRPr lang="en-US" sz="3400"/>
          </a:p>
        </p:txBody>
      </p:sp>
      <p:sp>
        <p:nvSpPr>
          <p:cNvPr id="9" name="Text 7"/>
          <p:cNvSpPr/>
          <p:nvPr/>
        </p:nvSpPr>
        <p:spPr>
          <a:xfrm>
            <a:off x="3337560" y="2852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Análise de Dados e Big Data  |  UNIFACS 2026/1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3337560" y="3740727"/>
            <a:ext cx="5486400" cy="624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5A8AAD"/>
                </a:solidFill>
                <a:ea typeface="Calibri"/>
                <a:cs typeface="Calibri"/>
              </a:rPr>
              <a:t>Lucas Wu – 12724130877</a:t>
            </a:r>
          </a:p>
          <a:p>
            <a:r>
              <a:rPr lang="en-US" sz="1050">
                <a:solidFill>
                  <a:srgbClr val="5A8AAD"/>
                </a:solidFill>
                <a:ea typeface="+mn-lt"/>
                <a:cs typeface="+mn-lt"/>
              </a:rPr>
              <a:t>João Marcos Passos Santos - 12725132409</a:t>
            </a:r>
          </a:p>
          <a:p>
            <a:r>
              <a:rPr lang="en-US" sz="1050">
                <a:solidFill>
                  <a:srgbClr val="5A8AAD"/>
                </a:solidFill>
                <a:ea typeface="+mn-lt"/>
                <a:cs typeface="+mn-lt"/>
              </a:rPr>
              <a:t>Hugo Moises da Silva Carvalho - 12724161831 </a:t>
            </a:r>
            <a:endParaRPr lang="en-US"/>
          </a:p>
          <a:p>
            <a:r>
              <a:rPr lang="en-US" sz="1050">
                <a:solidFill>
                  <a:srgbClr val="5A8AAD"/>
                </a:solidFill>
                <a:ea typeface="+mn-lt"/>
                <a:cs typeface="+mn-lt"/>
              </a:rPr>
              <a:t>Eduardo Copque da Silva - 12725149734</a:t>
            </a:r>
            <a:endParaRPr lang="en-US"/>
          </a:p>
          <a:p>
            <a:r>
              <a:rPr lang="en-US" sz="1050">
                <a:solidFill>
                  <a:srgbClr val="5A8AAD"/>
                </a:solidFill>
                <a:ea typeface="+mn-lt"/>
                <a:cs typeface="+mn-lt"/>
              </a:rPr>
              <a:t>Edinaldo Andresa da Silva - 12724146825</a:t>
            </a:r>
            <a:endParaRPr lang="en-US"/>
          </a:p>
          <a:p>
            <a:r>
              <a:rPr lang="en-US" sz="1050">
                <a:solidFill>
                  <a:srgbClr val="5A8AAD"/>
                </a:solidFill>
                <a:ea typeface="+mn-lt"/>
                <a:cs typeface="+mn-lt"/>
              </a:rPr>
              <a:t> Cauê Silva de Lima - 12724155736</a:t>
            </a:r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sz="1050">
              <a:solidFill>
                <a:srgbClr val="5A8AAD"/>
              </a:solidFill>
              <a:ea typeface="Calibri"/>
              <a:cs typeface="Calibri"/>
            </a:endParaRPr>
          </a:p>
          <a:p>
            <a:endParaRPr lang="en-US" sz="1050">
              <a:solidFill>
                <a:srgbClr val="5A8AAD"/>
              </a:solidFill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37560" y="418026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Salvador, Bahia — Maio de 2026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 PROBLEMA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importa?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 tem 214.192 escolas de educação básica. Mas existe uma profunda desigualdade estrutural entre elas — diferenças de região, rede administrativa e localização impactam diretamente a qualidade do ensino.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5029200" cy="1298448"/>
          </a:xfrm>
          <a:prstGeom prst="rect">
            <a:avLst/>
          </a:prstGeom>
          <a:solidFill>
            <a:srgbClr val="E8F1FA"/>
          </a:solidFill>
          <a:ln w="1270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2788920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Pergunta de Pesquisa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67512" y="3090672"/>
            <a:ext cx="4700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"Quais fatores de infraestrutura das escolas brasileiras estão associados à maior concentração de alunos por professor, e como essa relação varia entre regiões urbanas e rurais?"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5760720" y="1353312"/>
            <a:ext cx="301752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0" y="1353312"/>
            <a:ext cx="3017520" cy="502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25312" y="144475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Acesso à internet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5925312" y="1792224"/>
            <a:ext cx="26883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AC: apenas 47,8% conectadas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5760720" y="2560320"/>
            <a:ext cx="301752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0" y="2560320"/>
            <a:ext cx="301752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2651760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Estrutura deficiente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5925312" y="2999232"/>
            <a:ext cx="26883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14,9% das municipais têm lab. informática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5760720" y="3767328"/>
            <a:ext cx="301752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3767328"/>
            <a:ext cx="301752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3858768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Sobrecarga docente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925312" y="4206240"/>
            <a:ext cx="26883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RO: 18,8 alunos por professor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502920" y="495604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2025 – INEP  |  UC Análise de Dados e Big Data  |  UNIFACS 2026/1  |  3/15</a:t>
            </a:r>
            <a:endParaRPr lang="en-US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DADOS &amp; ETL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do INEP + processo completo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>
              <a:solidFill>
                <a:srgbClr val="0891B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84048" y="1389888"/>
            <a:ext cx="2788920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89888"/>
            <a:ext cx="2788920" cy="50292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43560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01 — Tabela de Escolas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512064" y="19933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214.192 linhas | 302 colunas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12064" y="228600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Infraestrutura, localização, rede admin.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291840" y="1389888"/>
            <a:ext cx="2788920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89888"/>
            <a:ext cx="278892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143560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02 — Tabela de Docentes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3419856" y="19933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178.772 linhas | 156 colunas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3419856" y="228600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Qtd. docentes por escola → aluno/prof.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6199632" y="1389888"/>
            <a:ext cx="2788920" cy="18288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389888"/>
            <a:ext cx="27889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435608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03 — Tabela de Matrículas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6327648" y="1993392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178.766 linhas | 237 colunas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6327648" y="2286000"/>
            <a:ext cx="2532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por escola → porte escolar.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384048" y="3337560"/>
            <a:ext cx="8375904" cy="15087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337560"/>
            <a:ext cx="8375904" cy="5029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015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ETL — Números Reais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48640" y="37307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 </a:t>
            </a: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CSVs | sep=';' | encoding latin-1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548640" y="40050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 </a:t>
            </a: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duplicados | 33.652 nulos/coluna (15,7%) → preenchidos com 0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548640" y="427939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 </a:t>
            </a: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→ labels | 3 novos indicadores: aluno_por_professor · score_infra · porte_escola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548640" y="455371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 </a:t>
            </a: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via co_entidade | base_final.csv: 214.192 escolas · 14 colunas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502920" y="495604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2025 – INEP  |  UC Análise de Dados e Big Data  |  UNIFACS 2026/1  |  4/15</a:t>
            </a:r>
            <a:endParaRPr lang="en-U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EDA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dos Dados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Estatísticas Descritivas — Indicador Aluno por Professor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097280" cy="329184"/>
          </a:xfrm>
          <a:prstGeom prst="rect">
            <a:avLst/>
          </a:prstGeom>
          <a:solidFill>
            <a:srgbClr val="1A56A0"/>
          </a:solidFill>
          <a:ln w="6350">
            <a:solidFill>
              <a:srgbClr val="DDE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1600200" y="1691640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16916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14,95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2651760" y="1691640"/>
            <a:ext cx="1097280" cy="329184"/>
          </a:xfrm>
          <a:prstGeom prst="rect">
            <a:avLst/>
          </a:prstGeom>
          <a:solidFill>
            <a:srgbClr val="1A56A0"/>
          </a:solidFill>
          <a:ln w="6350">
            <a:solidFill>
              <a:srgbClr val="DDE3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691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749040" y="1691640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6916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13,60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502920" y="2075688"/>
            <a:ext cx="1097280" cy="329184"/>
          </a:xfrm>
          <a:prstGeom prst="rect">
            <a:avLst/>
          </a:prstGeom>
          <a:solidFill>
            <a:srgbClr val="1A56A0"/>
          </a:solidFill>
          <a:ln w="6350">
            <a:solidFill>
              <a:srgbClr val="DD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756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 Padrão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1600200" y="2075688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2075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26,25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2651760" y="2075688"/>
            <a:ext cx="1097280" cy="329184"/>
          </a:xfrm>
          <a:prstGeom prst="rect">
            <a:avLst/>
          </a:prstGeom>
          <a:solidFill>
            <a:srgbClr val="1A56A0"/>
          </a:solidFill>
          <a:ln w="6350">
            <a:solidFill>
              <a:srgbClr val="DDE3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20756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(25%)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3749040" y="2075688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0756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9,60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502920" y="2459736"/>
            <a:ext cx="1097280" cy="329184"/>
          </a:xfrm>
          <a:prstGeom prst="rect">
            <a:avLst/>
          </a:prstGeom>
          <a:solidFill>
            <a:srgbClr val="1A56A0"/>
          </a:solidFill>
          <a:ln w="6350">
            <a:solidFill>
              <a:srgbClr val="DDE3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4597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(75%)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1600200" y="2459736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0200" y="2459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18,50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2651760" y="2459736"/>
            <a:ext cx="1097280" cy="329184"/>
          </a:xfrm>
          <a:prstGeom prst="rect">
            <a:avLst/>
          </a:prstGeom>
          <a:solidFill>
            <a:srgbClr val="1A56A0"/>
          </a:solidFill>
          <a:ln w="6350">
            <a:solidFill>
              <a:srgbClr val="DDE3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24597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3749040" y="2459736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2459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9.622,00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50292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Score de Infraestrutura (0–5)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502920" y="3273552"/>
            <a:ext cx="914400" cy="658368"/>
          </a:xfrm>
          <a:prstGeom prst="rect">
            <a:avLst/>
          </a:prstGeom>
          <a:solidFill>
            <a:srgbClr val="E8F1FA"/>
          </a:solidFill>
          <a:ln w="635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3310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2,98</a:t>
            </a:r>
            <a:endParaRPr lang="en-US" sz="1800"/>
          </a:p>
        </p:txBody>
      </p:sp>
      <p:sp>
        <p:nvSpPr>
          <p:cNvPr id="33" name="Text 31"/>
          <p:cNvSpPr/>
          <p:nvPr/>
        </p:nvSpPr>
        <p:spPr>
          <a:xfrm>
            <a:off x="502920" y="3602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1463040" y="3273552"/>
            <a:ext cx="914400" cy="658368"/>
          </a:xfrm>
          <a:prstGeom prst="rect">
            <a:avLst/>
          </a:prstGeom>
          <a:solidFill>
            <a:srgbClr val="E8F1FA"/>
          </a:solidFill>
          <a:ln w="635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463040" y="3310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</a:t>
            </a:r>
            <a:endParaRPr lang="en-US" sz="1800"/>
          </a:p>
        </p:txBody>
      </p:sp>
      <p:sp>
        <p:nvSpPr>
          <p:cNvPr id="36" name="Text 34"/>
          <p:cNvSpPr/>
          <p:nvPr/>
        </p:nvSpPr>
        <p:spPr>
          <a:xfrm>
            <a:off x="1463040" y="3602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2423160" y="3273552"/>
            <a:ext cx="914400" cy="658368"/>
          </a:xfrm>
          <a:prstGeom prst="rect">
            <a:avLst/>
          </a:prstGeom>
          <a:solidFill>
            <a:srgbClr val="E8F1FA"/>
          </a:solidFill>
          <a:ln w="635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423160" y="3310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1,56</a:t>
            </a:r>
            <a:endParaRPr lang="en-US" sz="1800"/>
          </a:p>
        </p:txBody>
      </p:sp>
      <p:sp>
        <p:nvSpPr>
          <p:cNvPr id="39" name="Text 37"/>
          <p:cNvSpPr/>
          <p:nvPr/>
        </p:nvSpPr>
        <p:spPr>
          <a:xfrm>
            <a:off x="2423160" y="3602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Padrão</a:t>
            </a:r>
            <a:endParaRPr lang="en-US" sz="950"/>
          </a:p>
        </p:txBody>
      </p:sp>
      <p:sp>
        <p:nvSpPr>
          <p:cNvPr id="40" name="Shape 38"/>
          <p:cNvSpPr/>
          <p:nvPr/>
        </p:nvSpPr>
        <p:spPr>
          <a:xfrm>
            <a:off x="3383280" y="3273552"/>
            <a:ext cx="914400" cy="658368"/>
          </a:xfrm>
          <a:prstGeom prst="rect">
            <a:avLst/>
          </a:prstGeom>
          <a:solidFill>
            <a:srgbClr val="E8F1FA"/>
          </a:solidFill>
          <a:ln w="635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383280" y="3310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</a:t>
            </a:r>
            <a:endParaRPr lang="en-US" sz="1800"/>
          </a:p>
        </p:txBody>
      </p:sp>
      <p:sp>
        <p:nvSpPr>
          <p:cNvPr id="42" name="Text 40"/>
          <p:cNvSpPr/>
          <p:nvPr/>
        </p:nvSpPr>
        <p:spPr>
          <a:xfrm>
            <a:off x="3383280" y="3602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4343400" y="3273552"/>
            <a:ext cx="914400" cy="658368"/>
          </a:xfrm>
          <a:prstGeom prst="rect">
            <a:avLst/>
          </a:prstGeom>
          <a:solidFill>
            <a:srgbClr val="E8F1FA"/>
          </a:solidFill>
          <a:ln w="635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343400" y="3310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</a:t>
            </a:r>
            <a:endParaRPr lang="en-US" sz="1800"/>
          </a:p>
        </p:txBody>
      </p:sp>
      <p:sp>
        <p:nvSpPr>
          <p:cNvPr id="45" name="Text 43"/>
          <p:cNvSpPr/>
          <p:nvPr/>
        </p:nvSpPr>
        <p:spPr>
          <a:xfrm>
            <a:off x="4343400" y="3602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/>
          </a:p>
        </p:txBody>
      </p:sp>
      <p:graphicFrame>
        <p:nvGraphicFramePr>
          <p:cNvPr id="46" name="Chart 0"/>
          <p:cNvGraphicFramePr/>
          <p:nvPr/>
        </p:nvGraphicFramePr>
        <p:xfrm>
          <a:off x="5669280" y="1353312"/>
          <a:ext cx="31089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Text 44"/>
          <p:cNvSpPr/>
          <p:nvPr/>
        </p:nvSpPr>
        <p:spPr>
          <a:xfrm>
            <a:off x="5669280" y="36027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Distribuição: Alunos/Prof</a:t>
            </a:r>
            <a:endParaRPr lang="en-US" sz="1000"/>
          </a:p>
        </p:txBody>
      </p:sp>
      <p:graphicFrame>
        <p:nvGraphicFramePr>
          <p:cNvPr id="48" name="Chart 1"/>
          <p:cNvGraphicFramePr/>
          <p:nvPr/>
        </p:nvGraphicFramePr>
        <p:xfrm>
          <a:off x="5669280" y="3913632"/>
          <a:ext cx="3108960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9" name="Text 45"/>
          <p:cNvSpPr/>
          <p:nvPr/>
        </p:nvSpPr>
        <p:spPr>
          <a:xfrm>
            <a:off x="5669280" y="4919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Histograma: Score de Infraestrutura</a:t>
            </a:r>
            <a:endParaRPr lang="en-US" sz="950"/>
          </a:p>
        </p:txBody>
      </p:sp>
      <p:sp>
        <p:nvSpPr>
          <p:cNvPr id="50" name="Text 46"/>
          <p:cNvSpPr/>
          <p:nvPr/>
        </p:nvSpPr>
        <p:spPr>
          <a:xfrm>
            <a:off x="502920" y="42245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Média (14,95) &gt; Mediana (13,60) → distribuição assimétrica com outliers altos. Score mediano = 3/5.</a:t>
            </a:r>
            <a:endParaRPr lang="en-US" sz="1100"/>
          </a:p>
        </p:txBody>
      </p:sp>
      <p:sp>
        <p:nvSpPr>
          <p:cNvPr id="51" name="Text 47"/>
          <p:cNvSpPr/>
          <p:nvPr/>
        </p:nvSpPr>
        <p:spPr>
          <a:xfrm>
            <a:off x="502920" y="495604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2025 – INEP  |  UC Análise de Dados e Big Data  |  UNIFACS 2026/1  |  5/15</a:t>
            </a:r>
            <a:endParaRPr lang="en-US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METODOLOGIA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insights foram descobertos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Integrante 3</a:t>
            </a:r>
            <a:endParaRPr lang="en-US" sz="95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8375904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89888"/>
            <a:ext cx="54864" cy="65836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447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Agrupamento por UF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2834640" y="14447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base.groupby('sg_uf')['in_internet'].mean()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566928" y="17373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Revelou desigualdade regional no acesso à internet — AC (47,8%) vs PR (95,6%).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11480" y="2121408"/>
            <a:ext cx="8375904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121408"/>
            <a:ext cx="54864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762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Comparação por Rede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2834640" y="21762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base.groupby('tp_dependencia')[cols_bin].mean()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566928" y="2468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Mostrou gap entre rede federal (94% com lab.) e municipal (14,9% com lab.).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11480" y="2852928"/>
            <a:ext cx="8375904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852928"/>
            <a:ext cx="54864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077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 Média Aluno/Professor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2834640" y="29077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base.groupby('sg_uf')['aluno_por_professor'].mean()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566928" y="32004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Identificou RO (18,8) como estado com maior sobrecarga, PR (11,6) com menor.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11480" y="3584448"/>
            <a:ext cx="8375904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584448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393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🌆  Urbana vs Rural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2834640" y="36393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groupby(['tp_localizacao','score_infra']).size()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566928" y="39319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20.471 escolas rurais com score 0 vs 30.703 urbanas com score 5 (9,3x mais).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11480" y="4315968"/>
            <a:ext cx="8375904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4315968"/>
            <a:ext cx="54864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3708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Correlação de Pearson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2834640" y="43708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base[['score_infra','aluno_por_professor']].corr()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566928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 = 0,034 (fraca). Infra isolada não determina sobrecarga — políticas de contratação são mais relevantes.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502920" y="495604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2025 – INEP  |  UC Análise de Dados e Big Data  |  UNIFACS 2026/1  |  6/15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INSIGHT 1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Desigualdade Regional no Acesso à Internet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Integrante 3</a:t>
            </a:r>
            <a:endParaRPr lang="en-US" sz="95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53312"/>
          <a:ext cx="5577840" cy="3639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36208" y="1353312"/>
            <a:ext cx="2542032" cy="3639312"/>
          </a:xfrm>
          <a:prstGeom prst="rect">
            <a:avLst/>
          </a:prstGeom>
          <a:solidFill>
            <a:srgbClr val="E8F1FA"/>
          </a:solidFill>
          <a:ln w="762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0" y="146304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O que revela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6400800" y="1764792"/>
            <a:ext cx="221284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Pior: 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→ 47,8%
</a:t>
            </a:r>
            <a:r>
              <a:rPr lang="en-US" sz="11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Melhor: </a:t>
            </a:r>
            <a:r>
              <a:rPr lang="en-US" sz="11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→ 95,6%
</a:t>
            </a:r>
            <a:r>
              <a:rPr lang="en-US" sz="11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11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47,8 p.p.
</a:t>
            </a:r>
            <a:r>
              <a:rPr lang="en-US" sz="11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Críticos (&lt;70%):
</a:t>
            </a: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AC, AM, MG, RR, AP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502920" y="495604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2025 – INEP  |  UC Análise de Dados e Big Data  |  UNIFACS 2026/1  |  7/15</a:t>
            </a:r>
            <a:endParaRPr 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INSIGHT 2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Municipal: 60% das escolas, menor infraestrutura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>
              <a:solidFill>
                <a:srgbClr val="0891B2"/>
              </a:solidFill>
              <a:ea typeface="Calibri"/>
              <a:cs typeface="Calibri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53312"/>
          <a:ext cx="54864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72200" y="1353312"/>
            <a:ext cx="260604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72200" y="1353312"/>
            <a:ext cx="54864" cy="10515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4447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Federal (728)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6309360" y="17556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 em todos. Padrão ideal.</a:t>
            </a:r>
            <a:endParaRPr lang="en-US" sz="1050"/>
          </a:p>
        </p:txBody>
      </p:sp>
      <p:sp>
        <p:nvSpPr>
          <p:cNvPr id="10" name="Shape 7"/>
          <p:cNvSpPr/>
          <p:nvPr/>
        </p:nvSpPr>
        <p:spPr>
          <a:xfrm>
            <a:off x="6172200" y="2560320"/>
            <a:ext cx="260604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2560320"/>
            <a:ext cx="54864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Estadual (33.561)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6309360" y="296265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internet, 57% lab.</a:t>
            </a:r>
            <a:endParaRPr lang="en-US" sz="1050"/>
          </a:p>
        </p:txBody>
      </p:sp>
      <p:sp>
        <p:nvSpPr>
          <p:cNvPr id="14" name="Shape 11"/>
          <p:cNvSpPr/>
          <p:nvPr/>
        </p:nvSpPr>
        <p:spPr>
          <a:xfrm>
            <a:off x="6172200" y="3767328"/>
            <a:ext cx="260604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3767328"/>
            <a:ext cx="54864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3858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Municipal (128.145)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6309360" y="41696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14,9% lab. e 19,9% biblioteca.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rede do país (60%).</a:t>
            </a:r>
            <a:endParaRPr lang="en-US" sz="1050"/>
          </a:p>
        </p:txBody>
      </p:sp>
      <p:sp>
        <p:nvSpPr>
          <p:cNvPr id="18" name="Text 15"/>
          <p:cNvSpPr/>
          <p:nvPr/>
        </p:nvSpPr>
        <p:spPr>
          <a:xfrm>
            <a:off x="399011" y="487811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2025 – INEP  |  UC Análise de Dados e Big Data  |  UNIFACS 2026/1  |  8/15</a:t>
            </a:r>
            <a:endParaRPr 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INSIGHT 3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Docente por Estado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53312"/>
          <a:ext cx="83210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526280"/>
            <a:ext cx="256032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450799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sobrecarga (≥17) → RO, GO, MT, DF, PE, PA</a:t>
            </a:r>
            <a:endParaRPr lang="en-US" sz="950"/>
          </a:p>
        </p:txBody>
      </p:sp>
      <p:sp>
        <p:nvSpPr>
          <p:cNvPr id="8" name="Shape 5"/>
          <p:cNvSpPr/>
          <p:nvPr/>
        </p:nvSpPr>
        <p:spPr>
          <a:xfrm>
            <a:off x="3291840" y="4526280"/>
            <a:ext cx="256032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30168" y="450799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 (14–17)</a:t>
            </a:r>
            <a:endParaRPr lang="en-US" sz="950"/>
          </a:p>
        </p:txBody>
      </p:sp>
      <p:sp>
        <p:nvSpPr>
          <p:cNvPr id="10" name="Shape 7"/>
          <p:cNvSpPr/>
          <p:nvPr/>
        </p:nvSpPr>
        <p:spPr>
          <a:xfrm>
            <a:off x="6080760" y="4526280"/>
            <a:ext cx="256032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19088" y="450799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Adequada (&lt;14) → RS, ES, PR</a:t>
            </a:r>
            <a:endParaRPr lang="en-US" sz="950"/>
          </a:p>
        </p:txBody>
      </p:sp>
      <p:sp>
        <p:nvSpPr>
          <p:cNvPr id="12" name="Text 9"/>
          <p:cNvSpPr/>
          <p:nvPr/>
        </p:nvSpPr>
        <p:spPr>
          <a:xfrm>
            <a:off x="502920" y="495604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2025 – INEP  |  UC Análise de Dados e Big Data  |  UNIFACS 2026/1  |  9/15</a:t>
            </a:r>
            <a:endParaRPr lang="en-US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INSIGHT 4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rural = ter menos recursos</a:t>
            </a:r>
            <a:endParaRPr lang="en-US" sz="300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53312"/>
          <a:ext cx="54406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08192" y="1353312"/>
            <a:ext cx="269748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08192" y="1353312"/>
            <a:ext cx="2697480" cy="5029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54496" y="144475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🌆 Urbana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6254496" y="17556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30.703 escolas com SCORE 5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(todos os recursos)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6108192" y="2560320"/>
            <a:ext cx="269748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08192" y="2560320"/>
            <a:ext cx="2697480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54496" y="2651760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Rural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6254496" y="2962656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20.471 escolas com SCORE 0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(nenhum recurso)</a:t>
            </a:r>
            <a:endParaRPr lang="en-US" sz="1100"/>
          </a:p>
        </p:txBody>
      </p:sp>
      <p:sp>
        <p:nvSpPr>
          <p:cNvPr id="14" name="Shape 11"/>
          <p:cNvSpPr/>
          <p:nvPr/>
        </p:nvSpPr>
        <p:spPr>
          <a:xfrm>
            <a:off x="6108192" y="3767328"/>
            <a:ext cx="2697480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08192" y="3767328"/>
            <a:ext cx="269748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54496" y="38587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Gap</a:t>
            </a:r>
            <a:endParaRPr lang="en-US" sz="1200"/>
          </a:p>
        </p:txBody>
      </p:sp>
      <p:sp>
        <p:nvSpPr>
          <p:cNvPr id="17" name="Text 14"/>
          <p:cNvSpPr/>
          <p:nvPr/>
        </p:nvSpPr>
        <p:spPr>
          <a:xfrm>
            <a:off x="6254496" y="4169664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9,3x mais escolas urbanas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infraestrutura completa</a:t>
            </a:r>
            <a:endParaRPr lang="en-US" sz="1100"/>
          </a:p>
        </p:txBody>
      </p:sp>
      <p:sp>
        <p:nvSpPr>
          <p:cNvPr id="18" name="Text 15"/>
          <p:cNvSpPr/>
          <p:nvPr/>
        </p:nvSpPr>
        <p:spPr>
          <a:xfrm>
            <a:off x="456161" y="4878116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2025 – INEP  |  UC Análise de Dados e Big Data  |  UNIFACS 2026/1  |  10/15</a:t>
            </a:r>
            <a:endParaRPr lang="en-US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DASHBOARD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+ Dashboard Interativo Plotly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384048" y="1417320"/>
            <a:ext cx="1965960" cy="13716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417320"/>
            <a:ext cx="1965960" cy="6400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453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 mil</a:t>
            </a:r>
            <a:endParaRPr lang="en-US" sz="360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analisadas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2441448" y="1417320"/>
            <a:ext cx="1965960" cy="13716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1417320"/>
            <a:ext cx="19659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5453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79,7%</a:t>
            </a:r>
            <a:endParaRPr lang="en-US" sz="3600"/>
          </a:p>
        </p:txBody>
      </p:sp>
      <p:sp>
        <p:nvSpPr>
          <p:cNvPr id="12" name="Text 10"/>
          <p:cNvSpPr/>
          <p:nvPr/>
        </p:nvSpPr>
        <p:spPr>
          <a:xfrm>
            <a:off x="2514600" y="224028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internet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498848" y="1417320"/>
            <a:ext cx="1965960" cy="13716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98848" y="1417320"/>
            <a:ext cx="19659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5453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31,1%</a:t>
            </a:r>
            <a:endParaRPr lang="en-US" sz="3600"/>
          </a:p>
        </p:txBody>
      </p:sp>
      <p:sp>
        <p:nvSpPr>
          <p:cNvPr id="16" name="Text 14"/>
          <p:cNvSpPr/>
          <p:nvPr/>
        </p:nvSpPr>
        <p:spPr>
          <a:xfrm>
            <a:off x="4572000" y="224028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biblioteca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6556248" y="1417320"/>
            <a:ext cx="1965960" cy="13716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56248" y="1417320"/>
            <a:ext cx="19659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5453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24,3%</a:t>
            </a:r>
            <a:endParaRPr lang="en-US" sz="3600"/>
          </a:p>
        </p:txBody>
      </p:sp>
      <p:sp>
        <p:nvSpPr>
          <p:cNvPr id="20" name="Text 18"/>
          <p:cNvSpPr/>
          <p:nvPr/>
        </p:nvSpPr>
        <p:spPr>
          <a:xfrm>
            <a:off x="6629400" y="224028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lab. informática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1207008" y="2944368"/>
            <a:ext cx="1965960" cy="13716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07008" y="2944368"/>
            <a:ext cx="1965960" cy="6400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3072384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</a:t>
            </a:r>
            <a:endParaRPr lang="en-US" sz="3600"/>
          </a:p>
        </p:txBody>
      </p:sp>
      <p:sp>
        <p:nvSpPr>
          <p:cNvPr id="24" name="Text 22"/>
          <p:cNvSpPr/>
          <p:nvPr/>
        </p:nvSpPr>
        <p:spPr>
          <a:xfrm>
            <a:off x="1280160" y="37673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alunos/professor (média)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3264408" y="2944368"/>
            <a:ext cx="1965960" cy="13716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2944368"/>
            <a:ext cx="19659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072384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2,98/5</a:t>
            </a:r>
            <a:endParaRPr lang="en-US" sz="3600"/>
          </a:p>
        </p:txBody>
      </p:sp>
      <p:sp>
        <p:nvSpPr>
          <p:cNvPr id="28" name="Text 26"/>
          <p:cNvSpPr/>
          <p:nvPr/>
        </p:nvSpPr>
        <p:spPr>
          <a:xfrm>
            <a:off x="3337560" y="37673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médio infra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5321808" y="2944368"/>
            <a:ext cx="1965960" cy="137160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21808" y="2944368"/>
            <a:ext cx="19659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072384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20.471</a:t>
            </a:r>
            <a:endParaRPr lang="en-US" sz="3600"/>
          </a:p>
        </p:txBody>
      </p:sp>
      <p:sp>
        <p:nvSpPr>
          <p:cNvPr id="32" name="Text 30"/>
          <p:cNvSpPr/>
          <p:nvPr/>
        </p:nvSpPr>
        <p:spPr>
          <a:xfrm>
            <a:off x="5394960" y="37673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rurais sem recurso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458999" y="4529840"/>
            <a:ext cx="8375904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4571101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Dashboard interativo: DASHBOARD_COMPLETO_A3.html  (Plotly — 6 painéis interativos, filtros e zoom)  |  Disponível no Google Drive do grupo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502920" y="495604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2025 – INEP  |  UC Análise de Dados e Big Data  |  UNIFACS 2026/1  |  12/15</a:t>
            </a:r>
            <a:endParaRPr lang="en-US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RECOMENDAÇÕES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indicam como prioridades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>
              <a:solidFill>
                <a:srgbClr val="0891B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4059936" cy="1664208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89888"/>
            <a:ext cx="566928" cy="16642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5669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106424" y="1508760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 nas escolas rurais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1106424" y="1892808"/>
            <a:ext cx="32369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o Programa Conectividade nos estados com &lt;70% (AC, AM, MG, RR, AP), priorizando zonas rurais.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681728" y="1389888"/>
            <a:ext cx="4059936" cy="1664208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389888"/>
            <a:ext cx="566928" cy="16642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389888"/>
            <a:ext cx="5669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5376672" y="1508760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Reforçar rede municipal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5376672" y="1892808"/>
            <a:ext cx="32369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128.145 escolas com 14,9% de lab. O FUNDEB deve priorizar biblioteca e laboratório nessa rede.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11480" y="3264408"/>
            <a:ext cx="4059936" cy="1664208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264408"/>
            <a:ext cx="566928" cy="16642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64408"/>
            <a:ext cx="5669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1106424" y="3383280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sobrecarga docente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1106424" y="3767328"/>
            <a:ext cx="32369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RO, GO, MT (≥18,7 alunos/prof) precisam de contratação emergencial de professores.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4681728" y="3264408"/>
            <a:ext cx="4059936" cy="1664208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3264408"/>
            <a:ext cx="566928" cy="166420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3264408"/>
            <a:ext cx="5669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5376672" y="3383280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com dados abertos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5376672" y="3767328"/>
            <a:ext cx="32369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os microdados do Censo Escolar anualmente para avaliar o impacto das políticas implementadas.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502920" y="495604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2025 – INEP  |  UC Análise de Dados e Big Data  |  UNIFACS 2026/1  |  13/15</a:t>
            </a:r>
            <a:endParaRPr lang="en-US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ÉTICA &amp; LGPD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responsável de dados educacionais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Integrante 6</a:t>
            </a:r>
            <a:endParaRPr lang="en-US" sz="950"/>
          </a:p>
        </p:txBody>
      </p:sp>
      <p:sp>
        <p:nvSpPr>
          <p:cNvPr id="5" name="Shape 3"/>
          <p:cNvSpPr/>
          <p:nvPr/>
        </p:nvSpPr>
        <p:spPr>
          <a:xfrm>
            <a:off x="384048" y="1389888"/>
            <a:ext cx="2798064" cy="34747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89888"/>
            <a:ext cx="2798064" cy="62179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435608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Privacidade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30352" y="2157984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anonimizados pelo INEP na origem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30352" y="3072384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dado pessoal identificável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530352" y="3986784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com LAI (Lei 12.527/2011)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310128" y="1389888"/>
            <a:ext cx="2798064" cy="34747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389888"/>
            <a:ext cx="2798064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1435608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LGPD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3456432" y="2157984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dados institucionais agregados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3456432" y="3072384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exclusivamente acadêmico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3456432" y="3986784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finalidade comercial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6236208" y="1389888"/>
            <a:ext cx="2798064" cy="3474720"/>
          </a:xfrm>
          <a:prstGeom prst="rect">
            <a:avLst/>
          </a:prstGeom>
          <a:solidFill>
            <a:srgbClr val="FFFFFF"/>
          </a:solidFill>
          <a:ln w="762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389888"/>
            <a:ext cx="2798064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1435608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Limitações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6382512" y="2157984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autodeclarados (viés de resposta)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382512" y="3072384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0,034 — correlação ≠ causalidade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382512" y="3986784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35.426 escolas sem matrícula registrada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384048" y="4700016"/>
            <a:ext cx="8375904" cy="274320"/>
          </a:xfrm>
          <a:prstGeom prst="rect">
            <a:avLst/>
          </a:prstGeom>
          <a:solidFill>
            <a:srgbClr val="E8F1FA"/>
          </a:solidFill>
          <a:ln w="7620">
            <a:solidFill>
              <a:srgbClr val="1A5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7274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Recomendações são indicativos exploratórios. Correlação não implica causalidade. Gestores devem complementar com contexto local.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502920" y="495604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2025 – INEP  |  UC Análise de Dados e Big Data  |  UNIFACS 2026/1  |  14/15</a:t>
            </a:r>
            <a:endParaRPr lang="en-US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71E38"/>
          </a:solidFill>
          <a:ln w="12700">
            <a:solidFill>
              <a:srgbClr val="071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>
                <a:solidFill>
                  <a:srgbClr val="000000"/>
                </a:solidFill>
              </a:rPr>
              <a:t>🎯</a:t>
            </a:r>
            <a:endParaRPr lang="en-US" sz="7200"/>
          </a:p>
        </p:txBody>
      </p:sp>
      <p:sp>
        <p:nvSpPr>
          <p:cNvPr id="5" name="Text 3"/>
          <p:cNvSpPr/>
          <p:nvPr/>
        </p:nvSpPr>
        <p:spPr>
          <a:xfrm>
            <a:off x="182880" y="2240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300"/>
          </a:p>
          <a:p>
            <a:pPr marL="0" indent="0" algn="ctr">
              <a:buNone/>
            </a:pPr>
            <a:r>
              <a:rPr lang="en-US" sz="1300" b="1" kern="0" spc="30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8288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A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UNIFACS 2026/1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3337560" y="38404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600"/>
          </a:p>
        </p:txBody>
      </p:sp>
      <p:sp>
        <p:nvSpPr>
          <p:cNvPr id="8" name="Shape 6"/>
          <p:cNvSpPr/>
          <p:nvPr/>
        </p:nvSpPr>
        <p:spPr>
          <a:xfrm>
            <a:off x="3337560" y="1024128"/>
            <a:ext cx="5440680" cy="1417320"/>
          </a:xfrm>
          <a:prstGeom prst="rect">
            <a:avLst/>
          </a:prstGeom>
          <a:solidFill>
            <a:srgbClr val="0D3B72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0972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à Pergunta de Pesquisa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3493008" y="1389888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Desigualdades estruturais afetam diretamente a distribuição de recursos educacionais e a sobrecarga docente — especialmente em escolas rurais e municipais. A correlação direta infra↔aluno/prof é fraca (r=0,034), mas a coexistência de baixa infraestrutura e alta sobrecarga nas mesmas redes e regiões revela uma desigualdade sistêmica que exige ação coordenada.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3337560" y="2578608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3 fontes INEP integradas | 214.192 escolas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3337560" y="29718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ETL: 33.652 nulos tratados | 3 novos indicadores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3337560" y="3364992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EDA: média, mediana, quartis, desvio padrão, histograma, boxplot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3337560" y="3758184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Correlação de Pearson r=0,034 entre score_infra e aluno/prof</a:t>
            </a:r>
            <a:endParaRPr lang="en-US" sz="1150"/>
          </a:p>
        </p:txBody>
      </p:sp>
      <p:sp>
        <p:nvSpPr>
          <p:cNvPr id="15" name="Text 13"/>
          <p:cNvSpPr/>
          <p:nvPr/>
        </p:nvSpPr>
        <p:spPr>
          <a:xfrm>
            <a:off x="3337560" y="4151376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6 gráficos + dashboard interativo Plotly HTML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333756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 2025 – INEP  |  UC Análise de Dados e Big Data  |  UNIFACS 2026/1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2026-05-12T00:20:23Z</dcterms:created>
  <dcterms:modified xsi:type="dcterms:W3CDTF">2026-05-19T21:36:45Z</dcterms:modified>
</cp:coreProperties>
</file>